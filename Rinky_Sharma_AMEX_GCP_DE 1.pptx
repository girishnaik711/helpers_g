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1474737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8DC371-E4D8-4503-BF8A-01E2D3041A97}" v="24" dt="2026-01-19T10:34:02.6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EC2D88-1104-4FBA-95CD-6CC55ACA5CAF}" type="datetimeFigureOut">
              <a:rPr lang="en-US" smtClean="0"/>
              <a:t>1/19/2026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EA11F3-3A80-4673-9A0C-D1E9356BDF5D}" type="slidenum">
              <a:rPr lang="en-US" smtClean="0"/>
              <a:t>‹#›</a:t>
            </a:fld>
            <a:endParaRPr lang="en-US"/>
          </a:p>
        </p:txBody>
      </p:sp>
    </p:spTree>
    <p:extLst>
      <p:ext uri="{BB962C8B-B14F-4D97-AF65-F5344CB8AC3E}">
        <p14:creationId xmlns:p14="http://schemas.microsoft.com/office/powerpoint/2010/main" val="1788397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357FA-2336-4338-A0EA-06046FCC0C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71FF75-61A9-4F22-B8D0-39EC238DB6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F4F0F8-99C4-4E59-AC11-13679E465249}"/>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5" name="Footer Placeholder 4">
            <a:extLst>
              <a:ext uri="{FF2B5EF4-FFF2-40B4-BE49-F238E27FC236}">
                <a16:creationId xmlns:a16="http://schemas.microsoft.com/office/drawing/2014/main" id="{873B922F-7FD4-4404-8CB7-73707CD774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F888D-B566-4C96-9F73-96F6EF6353B3}"/>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771220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170FF-3CDE-41CA-8124-152B47A656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9FA112-8C80-47F4-BF29-03C4C74F1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F0DA9F-A960-4D80-875C-6DA4C5FD65FA}"/>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5" name="Footer Placeholder 4">
            <a:extLst>
              <a:ext uri="{FF2B5EF4-FFF2-40B4-BE49-F238E27FC236}">
                <a16:creationId xmlns:a16="http://schemas.microsoft.com/office/drawing/2014/main" id="{D949F62B-48AD-478D-B8FA-682BD2AA44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89762-0188-4726-BF94-78E26028A434}"/>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3006339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19BBC-61B8-4924-981E-1A6D69D07A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0CFCA3-BD18-4F1D-B41F-1C4740CD33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CA6B03-33C2-464A-BC66-11BAA51683CD}"/>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5" name="Footer Placeholder 4">
            <a:extLst>
              <a:ext uri="{FF2B5EF4-FFF2-40B4-BE49-F238E27FC236}">
                <a16:creationId xmlns:a16="http://schemas.microsoft.com/office/drawing/2014/main" id="{3A725319-065E-4155-8F51-7EB9A96064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DBD7FB-C7D4-41B1-BE67-C06787BC229E}"/>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2512061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DBA6D-CF75-4EDB-8A4E-155F6AC981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8D2D05-CF4D-4C73-9E28-6414A57989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90E6DF-2096-4602-B757-98008588B3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6A16B7-EEE2-4FD0-8623-40F372517F2E}"/>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6" name="Footer Placeholder 5">
            <a:extLst>
              <a:ext uri="{FF2B5EF4-FFF2-40B4-BE49-F238E27FC236}">
                <a16:creationId xmlns:a16="http://schemas.microsoft.com/office/drawing/2014/main" id="{30AE368C-81C9-4156-AB73-863F7C61C4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C470C1-9C9A-4AE7-82FD-AE4D2BB5F70C}"/>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134275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F53D-8D7A-4536-8FF2-FD44B99B11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67911F-6FA0-452E-940A-80AC7B91E4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4A3551-8253-42CA-A6A1-C712016CAE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A0F8FF-2F80-43D5-BA01-9ED435D14E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728506-5224-4C23-AFAC-4A7E703F95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CD529C-F35E-491E-BEF7-285838B4454D}"/>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8" name="Footer Placeholder 7">
            <a:extLst>
              <a:ext uri="{FF2B5EF4-FFF2-40B4-BE49-F238E27FC236}">
                <a16:creationId xmlns:a16="http://schemas.microsoft.com/office/drawing/2014/main" id="{A267B06A-DD98-4F99-9A53-B3D6BB6C1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9E13A9-6BB2-498C-9585-3D676DDB67AE}"/>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1756764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EA857-DC04-4F9F-ADE0-BBFBD49CB3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D7D936A-2AE3-4859-9C20-02EB503D0EC5}"/>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4" name="Footer Placeholder 3">
            <a:extLst>
              <a:ext uri="{FF2B5EF4-FFF2-40B4-BE49-F238E27FC236}">
                <a16:creationId xmlns:a16="http://schemas.microsoft.com/office/drawing/2014/main" id="{84C31E06-BE36-4E77-B1AD-77D381E371E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D34D787-BDE3-427D-B827-2464F237E7A4}"/>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3708691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9F8428-4915-45DF-AC1E-A0C289639DCD}"/>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3" name="Footer Placeholder 2">
            <a:extLst>
              <a:ext uri="{FF2B5EF4-FFF2-40B4-BE49-F238E27FC236}">
                <a16:creationId xmlns:a16="http://schemas.microsoft.com/office/drawing/2014/main" id="{C16FA543-EFAE-4754-866D-85FB728D39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0827ED3-9530-4D98-9E68-94FAADFAF8ED}"/>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1118513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925B7-FF3D-473D-A2B8-1B2244F23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19470A-F045-4401-BBCA-664875B6F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5CB4357-9897-4BAC-B70F-3F3959E5DB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EDFC3A-A3C5-48D6-A918-BD2621D6C5B4}"/>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6" name="Footer Placeholder 5">
            <a:extLst>
              <a:ext uri="{FF2B5EF4-FFF2-40B4-BE49-F238E27FC236}">
                <a16:creationId xmlns:a16="http://schemas.microsoft.com/office/drawing/2014/main" id="{615DF78F-1A0A-40E0-9731-58C3F3FCE3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3FAD71-D51C-4F5E-8ACD-6AF878815150}"/>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1009357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B8EC6-08EE-4E2D-97F4-1D6582288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F5BEC05-511F-4503-8546-641F644812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C67F11-D2E3-4BF1-B93E-BF07A59D3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82B325-3B55-44CE-80EC-2ADD62C10DB3}"/>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6" name="Footer Placeholder 5">
            <a:extLst>
              <a:ext uri="{FF2B5EF4-FFF2-40B4-BE49-F238E27FC236}">
                <a16:creationId xmlns:a16="http://schemas.microsoft.com/office/drawing/2014/main" id="{97F13D9F-64F1-48C8-89D7-2414654C4D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A86B98-BC0F-4C7C-AE7F-1ED78ED4CD10}"/>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1486096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4CA83-07A4-4764-8A9B-8BCA3A1D67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7DA293-3170-4522-8B19-8AE342F2B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65C4D0-B61B-4A44-9D62-0CC8C0716FD9}"/>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5" name="Footer Placeholder 4">
            <a:extLst>
              <a:ext uri="{FF2B5EF4-FFF2-40B4-BE49-F238E27FC236}">
                <a16:creationId xmlns:a16="http://schemas.microsoft.com/office/drawing/2014/main" id="{867EB435-C666-4063-821C-4B7439131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0CF441-1890-4045-92F6-B01BD476ED7D}"/>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24483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AB8FCD-03DD-46F1-80A3-D5515BECBF8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D01EF9-5ECB-482F-A474-3E88C04302D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39B977-0452-4280-9DE0-0C66C95BE24A}"/>
              </a:ext>
            </a:extLst>
          </p:cNvPr>
          <p:cNvSpPr>
            <a:spLocks noGrp="1"/>
          </p:cNvSpPr>
          <p:nvPr>
            <p:ph type="dt" sz="half" idx="10"/>
          </p:nvPr>
        </p:nvSpPr>
        <p:spPr/>
        <p:txBody>
          <a:bodyPr/>
          <a:lstStyle/>
          <a:p>
            <a:fld id="{EAED42C4-30BB-4381-9E8F-33B2EA14A2FA}" type="datetimeFigureOut">
              <a:rPr lang="en-US" smtClean="0"/>
              <a:t>1/19/2026</a:t>
            </a:fld>
            <a:endParaRPr lang="en-US"/>
          </a:p>
        </p:txBody>
      </p:sp>
      <p:sp>
        <p:nvSpPr>
          <p:cNvPr id="5" name="Footer Placeholder 4">
            <a:extLst>
              <a:ext uri="{FF2B5EF4-FFF2-40B4-BE49-F238E27FC236}">
                <a16:creationId xmlns:a16="http://schemas.microsoft.com/office/drawing/2014/main" id="{99807108-DC5B-48C5-9191-11CC30AB27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5F8E45-715E-49CE-B3E8-381C46FB8530}"/>
              </a:ext>
            </a:extLst>
          </p:cNvPr>
          <p:cNvSpPr>
            <a:spLocks noGrp="1"/>
          </p:cNvSpPr>
          <p:nvPr>
            <p:ph type="sldNum" sz="quarter" idx="12"/>
          </p:nvPr>
        </p:nvSpPr>
        <p:spPr/>
        <p:txBody>
          <a:bodyPr/>
          <a:lstStyle/>
          <a:p>
            <a:fld id="{26FFC513-3951-4617-9EDB-3E63251EF10D}" type="slidenum">
              <a:rPr lang="en-US" smtClean="0"/>
              <a:t>‹#›</a:t>
            </a:fld>
            <a:endParaRPr lang="en-US"/>
          </a:p>
        </p:txBody>
      </p:sp>
    </p:spTree>
    <p:extLst>
      <p:ext uri="{BB962C8B-B14F-4D97-AF65-F5344CB8AC3E}">
        <p14:creationId xmlns:p14="http://schemas.microsoft.com/office/powerpoint/2010/main" val="735096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Left, Subhead &amp; Breadcrumb">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716781"/>
            <a:ext cx="12192000" cy="2141219"/>
          </a:xfrm>
          <a:prstGeom prst="rect">
            <a:avLst/>
          </a:prstGeom>
        </p:spPr>
      </p:pic>
      <p:sp>
        <p:nvSpPr>
          <p:cNvPr id="2" name="Title 1"/>
          <p:cNvSpPr>
            <a:spLocks noGrp="1"/>
          </p:cNvSpPr>
          <p:nvPr>
            <p:ph type="title"/>
          </p:nvPr>
        </p:nvSpPr>
        <p:spPr>
          <a:xfrm>
            <a:off x="914400" y="804672"/>
            <a:ext cx="3352800" cy="1993390"/>
          </a:xfrm>
        </p:spPr>
        <p:txBody>
          <a:bodyPr vert="horz" lIns="0" tIns="45720" rIns="0" bIns="0" rtlCol="0" anchor="t" anchorCtr="0">
            <a:noAutofit/>
          </a:bodyPr>
          <a:lstStyle>
            <a:lvl1pPr>
              <a:defRPr lang="en-US" sz="3600" spc="-75" dirty="0">
                <a:latin typeface="+mj-lt"/>
              </a:defRPr>
            </a:lvl1pPr>
          </a:lstStyle>
          <a:p>
            <a:pPr lvl="0" defTabSz="685800">
              <a:lnSpc>
                <a:spcPct val="85000"/>
              </a:lnSpc>
            </a:pPr>
            <a:r>
              <a:rPr lang="en-US"/>
              <a:t>Click to edit Master title style</a:t>
            </a:r>
          </a:p>
        </p:txBody>
      </p:sp>
      <p:sp>
        <p:nvSpPr>
          <p:cNvPr id="8" name="Text Placeholder 5"/>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
        <p:nvSpPr>
          <p:cNvPr id="5" name="Text Placeholder 4"/>
          <p:cNvSpPr>
            <a:spLocks noGrp="1"/>
          </p:cNvSpPr>
          <p:nvPr>
            <p:ph type="body" sz="quarter" idx="16" hasCustomPrompt="1"/>
          </p:nvPr>
        </p:nvSpPr>
        <p:spPr>
          <a:xfrm>
            <a:off x="914400" y="2743200"/>
            <a:ext cx="3355975" cy="1169988"/>
          </a:xfrm>
        </p:spPr>
        <p:txBody>
          <a:bodyPr/>
          <a:lstStyle>
            <a:lvl1pPr marL="0" indent="0">
              <a:lnSpc>
                <a:spcPct val="130000"/>
              </a:lnSpc>
              <a:buNone/>
              <a:defRPr sz="1200" baseline="0"/>
            </a:lvl1pPr>
          </a:lstStyle>
          <a:p>
            <a:pPr lvl="0"/>
            <a:r>
              <a:rPr lang="en-US"/>
              <a:t>Click to edit Master text styles</a:t>
            </a:r>
          </a:p>
        </p:txBody>
      </p:sp>
    </p:spTree>
    <p:extLst>
      <p:ext uri="{BB962C8B-B14F-4D97-AF65-F5344CB8AC3E}">
        <p14:creationId xmlns:p14="http://schemas.microsoft.com/office/powerpoint/2010/main" val="3577219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D83F4-328A-4332-80F3-AFFD879E9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1D3AB5B-517D-471F-A957-5A781C099B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A9701-1EB0-4559-A350-0B30CBCEB3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ED42C4-30BB-4381-9E8F-33B2EA14A2FA}" type="datetimeFigureOut">
              <a:rPr lang="en-US" smtClean="0"/>
              <a:t>1/19/2026</a:t>
            </a:fld>
            <a:endParaRPr lang="en-US"/>
          </a:p>
        </p:txBody>
      </p:sp>
      <p:sp>
        <p:nvSpPr>
          <p:cNvPr id="5" name="Footer Placeholder 4">
            <a:extLst>
              <a:ext uri="{FF2B5EF4-FFF2-40B4-BE49-F238E27FC236}">
                <a16:creationId xmlns:a16="http://schemas.microsoft.com/office/drawing/2014/main" id="{02DC427D-D260-4D16-9C33-A2F1C5E8CE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C3B2F6-CB07-43E5-ADB5-6160C35D68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FFC513-3951-4617-9EDB-3E63251EF10D}" type="slidenum">
              <a:rPr lang="en-US" smtClean="0"/>
              <a:t>‹#›</a:t>
            </a:fld>
            <a:endParaRPr lang="en-US"/>
          </a:p>
        </p:txBody>
      </p:sp>
    </p:spTree>
    <p:extLst>
      <p:ext uri="{BB962C8B-B14F-4D97-AF65-F5344CB8AC3E}">
        <p14:creationId xmlns:p14="http://schemas.microsoft.com/office/powerpoint/2010/main" val="2359843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6.jpg"/><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4;p14">
            <a:extLst>
              <a:ext uri="{FF2B5EF4-FFF2-40B4-BE49-F238E27FC236}">
                <a16:creationId xmlns:a16="http://schemas.microsoft.com/office/drawing/2014/main" id="{1BBA8BF2-8C53-A999-33DD-13AE64F07624}"/>
              </a:ext>
            </a:extLst>
          </p:cNvPr>
          <p:cNvSpPr txBox="1"/>
          <p:nvPr/>
        </p:nvSpPr>
        <p:spPr>
          <a:xfrm>
            <a:off x="146532" y="84328"/>
            <a:ext cx="11242400" cy="631200"/>
          </a:xfrm>
          <a:prstGeom prst="rect">
            <a:avLst/>
          </a:prstGeom>
          <a:noFill/>
          <a:ln>
            <a:noFill/>
          </a:ln>
        </p:spPr>
        <p:txBody>
          <a:bodyPr spcFirstLastPara="1" wrap="square" lIns="121900" tIns="121900" rIns="121900" bIns="121900" anchor="t" anchorCtr="0">
            <a:noAutofit/>
          </a:bodyPr>
          <a:lstStyle/>
          <a:p>
            <a:pPr>
              <a:buClr>
                <a:srgbClr val="575757"/>
              </a:buClr>
              <a:buSzPts val="300"/>
            </a:pPr>
            <a:r>
              <a:rPr lang="en-US" sz="2800" b="1" dirty="0">
                <a:solidFill>
                  <a:srgbClr val="575757"/>
                </a:solidFill>
                <a:latin typeface="Open Sans" panose="020B0606030504020204" pitchFamily="34" charset="0"/>
                <a:ea typeface="Open Sans" panose="020B0606030504020204" pitchFamily="34" charset="0"/>
                <a:cs typeface="Open Sans" panose="020B0606030504020204" pitchFamily="34" charset="0"/>
              </a:rPr>
              <a:t>Rinky Sharma</a:t>
            </a:r>
          </a:p>
        </p:txBody>
      </p:sp>
      <p:sp>
        <p:nvSpPr>
          <p:cNvPr id="5" name="Google Shape;76;p14">
            <a:extLst>
              <a:ext uri="{FF2B5EF4-FFF2-40B4-BE49-F238E27FC236}">
                <a16:creationId xmlns:a16="http://schemas.microsoft.com/office/drawing/2014/main" id="{E0979DCF-1275-374E-0FCF-D754B5C9309A}"/>
              </a:ext>
            </a:extLst>
          </p:cNvPr>
          <p:cNvSpPr/>
          <p:nvPr/>
        </p:nvSpPr>
        <p:spPr>
          <a:xfrm>
            <a:off x="258986" y="2799051"/>
            <a:ext cx="2190300" cy="4008906"/>
          </a:xfrm>
          <a:prstGeom prst="rect">
            <a:avLst/>
          </a:prstGeom>
          <a:noFill/>
          <a:ln>
            <a:noFill/>
          </a:ln>
        </p:spPr>
        <p:txBody>
          <a:bodyPr spcFirstLastPara="1" wrap="square" lIns="0" tIns="55867" rIns="111767" bIns="55867" anchor="t" anchorCtr="0">
            <a:noAutofit/>
          </a:bodyPr>
          <a:lstStyle/>
          <a:p>
            <a:pPr marL="0" marR="0" lvl="0" indent="0" algn="l" defTabSz="914400" rtl="0" eaLnBrk="1" fontAlgn="auto" latinLnBrk="0" hangingPunct="1">
              <a:lnSpc>
                <a:spcPct val="100000"/>
              </a:lnSpc>
              <a:spcBef>
                <a:spcPts val="0"/>
              </a:spcBef>
              <a:spcAft>
                <a:spcPts val="0"/>
              </a:spcAft>
              <a:buClr>
                <a:srgbClr val="575757"/>
              </a:buClr>
              <a:buSzPts val="200"/>
              <a:buFontTx/>
              <a:buNone/>
              <a:tabLst/>
              <a:defRPr/>
            </a:pPr>
            <a:r>
              <a:rPr kumimoji="0" lang="en-US" sz="11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Office:</a:t>
            </a: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575757"/>
              </a:buClr>
              <a:buSzPts val="200"/>
              <a:buFontTx/>
              <a:buNone/>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Bangalore</a:t>
            </a: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 </a:t>
            </a: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India</a:t>
            </a: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Pts val="800"/>
              <a:buFontTx/>
              <a:buNone/>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575757"/>
              </a:buClr>
              <a:buSzPts val="200"/>
              <a:buFontTx/>
              <a:buNone/>
              <a:tabLst/>
              <a:defRPr/>
            </a:pPr>
            <a:r>
              <a:rPr kumimoji="0" lang="en-US" sz="11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Industries</a:t>
            </a: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a:t>
            </a:r>
          </a:p>
          <a:p>
            <a:pPr marL="152396" marR="0" lvl="0" indent="-152396" algn="l" defTabSz="914400" rtl="0" eaLnBrk="1" fontAlgn="auto" latinLnBrk="0" hangingPunct="1">
              <a:lnSpc>
                <a:spcPct val="100000"/>
              </a:lnSpc>
              <a:spcBef>
                <a:spcPts val="267"/>
              </a:spcBef>
              <a:spcAft>
                <a:spcPts val="0"/>
              </a:spcAft>
              <a:buClr>
                <a:srgbClr val="575757"/>
              </a:buClr>
              <a:buSzPts val="800"/>
              <a:buFont typeface="Arial"/>
              <a:buChar char="•"/>
              <a:tabLst/>
              <a:defRPr/>
            </a:pPr>
            <a:r>
              <a:rPr lang="en-US" sz="11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Healthcare</a:t>
            </a: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152396" marR="0" lvl="0" indent="-152396" algn="l" defTabSz="914400" rtl="0" eaLnBrk="1" fontAlgn="auto" latinLnBrk="0" hangingPunct="1">
              <a:lnSpc>
                <a:spcPct val="100000"/>
              </a:lnSpc>
              <a:spcBef>
                <a:spcPts val="267"/>
              </a:spcBef>
              <a:spcAft>
                <a:spcPts val="0"/>
              </a:spcAft>
              <a:buClr>
                <a:srgbClr val="575757"/>
              </a:buClr>
              <a:buSzPts val="800"/>
              <a:buFont typeface="Arial"/>
              <a:buChar char="•"/>
              <a:tabLst/>
              <a:defRPr/>
            </a:pPr>
            <a:r>
              <a:rPr lang="en-US" sz="11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rPr>
              <a:t>Finance</a:t>
            </a:r>
          </a:p>
          <a:p>
            <a:pPr marL="152396" marR="0" lvl="0" indent="-152396" algn="l" defTabSz="914400" rtl="0" eaLnBrk="1" fontAlgn="auto" latinLnBrk="0" hangingPunct="1">
              <a:lnSpc>
                <a:spcPct val="100000"/>
              </a:lnSpc>
              <a:spcBef>
                <a:spcPts val="267"/>
              </a:spcBef>
              <a:spcAft>
                <a:spcPts val="0"/>
              </a:spcAft>
              <a:buClr>
                <a:srgbClr val="575757"/>
              </a:buClr>
              <a:buSzPts val="800"/>
              <a:buFont typeface="Arial"/>
              <a:buChar char="•"/>
              <a:tabLst/>
              <a:defRPr/>
            </a:pPr>
            <a:endParaRPr lang="en-US" sz="1100" dirty="0">
              <a:solidFill>
                <a:prstClr val="black"/>
              </a:solidFill>
              <a:latin typeface="Open Sans" panose="020B0606030504020204" pitchFamily="34" charset="0"/>
              <a:ea typeface="Open Sans" panose="020B0606030504020204" pitchFamily="34" charset="0"/>
              <a:cs typeface="Open Sans" panose="020B0606030504020204" pitchFamily="34" charset="0"/>
              <a:sym typeface="Arial"/>
            </a:endParaRPr>
          </a:p>
          <a:p>
            <a:pPr marL="0" marR="0" lvl="0" indent="0" algn="l" defTabSz="914400" rtl="0" eaLnBrk="1" fontAlgn="auto" latinLnBrk="0" hangingPunct="1">
              <a:lnSpc>
                <a:spcPct val="100000"/>
              </a:lnSpc>
              <a:spcBef>
                <a:spcPts val="267"/>
              </a:spcBef>
              <a:spcAft>
                <a:spcPts val="0"/>
              </a:spcAft>
              <a:buClrTx/>
              <a:buSzTx/>
              <a:buFontTx/>
              <a:buNone/>
              <a:tabLst/>
              <a:defRPr/>
            </a:pPr>
            <a:r>
              <a:rPr kumimoji="0" lang="en-US" sz="11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rPr>
              <a:t>Certifications: </a:t>
            </a: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228594" marR="0" lvl="0" indent="-228594" algn="l" defTabSz="914400" rtl="0" eaLnBrk="1" fontAlgn="auto" latinLnBrk="0" hangingPunct="1">
              <a:lnSpc>
                <a:spcPct val="100000"/>
              </a:lnSpc>
              <a:spcBef>
                <a:spcPts val="267"/>
              </a:spcBef>
              <a:spcAft>
                <a:spcPts val="0"/>
              </a:spcAft>
              <a:buClrTx/>
              <a:buSzPts val="800"/>
              <a:buFont typeface="Arial" panose="020B0604020202020204" pitchFamily="34" charset="0"/>
              <a:buChar char="•"/>
              <a:tabLst/>
              <a:defRPr/>
            </a:pPr>
            <a:r>
              <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Google Cloud Data Engineer</a:t>
            </a:r>
          </a:p>
          <a:p>
            <a:pPr marL="228594" marR="0" lvl="0" indent="-228594" algn="l" defTabSz="914400" rtl="0" eaLnBrk="1" fontAlgn="auto" latinLnBrk="0" hangingPunct="1">
              <a:lnSpc>
                <a:spcPct val="100000"/>
              </a:lnSpc>
              <a:spcBef>
                <a:spcPts val="267"/>
              </a:spcBef>
              <a:spcAft>
                <a:spcPts val="0"/>
              </a:spcAft>
              <a:buClrTx/>
              <a:buSzPts val="800"/>
              <a:buFont typeface="Arial" panose="020B0604020202020204" pitchFamily="34" charset="0"/>
              <a:buChar char="•"/>
              <a:tabLst/>
              <a:defRPr/>
            </a:pPr>
            <a:r>
              <a:rPr lang="en-US" sz="1100" dirty="0">
                <a:solidFill>
                  <a:prstClr val="black"/>
                </a:solidFill>
                <a:latin typeface="Open Sans" panose="020B0606030504020204" pitchFamily="34" charset="0"/>
                <a:ea typeface="Open Sans" panose="020B0606030504020204" pitchFamily="34" charset="0"/>
                <a:cs typeface="Open Sans" panose="020B0606030504020204" pitchFamily="34" charset="0"/>
              </a:rPr>
              <a:t>Google Cloud Data Architect</a:t>
            </a:r>
          </a:p>
          <a:p>
            <a:pPr marL="228594" marR="0" lvl="0" indent="-228594" algn="l" defTabSz="914400" rtl="0" eaLnBrk="1" fontAlgn="auto" latinLnBrk="0" hangingPunct="1">
              <a:lnSpc>
                <a:spcPct val="100000"/>
              </a:lnSpc>
              <a:spcBef>
                <a:spcPts val="267"/>
              </a:spcBef>
              <a:spcAft>
                <a:spcPts val="0"/>
              </a:spcAft>
              <a:buClrTx/>
              <a:buSzPts val="800"/>
              <a:buFont typeface="Arial" panose="020B0604020202020204" pitchFamily="34" charset="0"/>
              <a:buChar char="•"/>
              <a:tabLst/>
              <a:defRPr/>
            </a:pPr>
            <a:endParaRPr lang="en-US" sz="1100" dirty="0">
              <a:solidFill>
                <a:prstClr val="black"/>
              </a:solidFill>
              <a:latin typeface="Open Sans" panose="020B0606030504020204" pitchFamily="34" charset="0"/>
              <a:ea typeface="Open Sans" panose="020B0606030504020204" pitchFamily="34" charset="0"/>
              <a:cs typeface="Open Sans" panose="020B0606030504020204" pitchFamily="34" charset="0"/>
            </a:endParaRPr>
          </a:p>
          <a:p>
            <a:pPr marR="0" lvl="0" algn="l" defTabSz="914400" rtl="0" eaLnBrk="1" fontAlgn="auto" latinLnBrk="0" hangingPunct="1">
              <a:lnSpc>
                <a:spcPct val="100000"/>
              </a:lnSpc>
              <a:spcBef>
                <a:spcPts val="267"/>
              </a:spcBef>
              <a:spcAft>
                <a:spcPts val="0"/>
              </a:spcAft>
              <a:buClrTx/>
              <a:buSzPts val="800"/>
              <a:tabLst/>
              <a:defRPr/>
            </a:pPr>
            <a:r>
              <a:rPr kumimoji="0" lang="en-US" sz="11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Skills:</a:t>
            </a:r>
          </a:p>
          <a:p>
            <a:pPr marL="171450" marR="0" lvl="0" indent="-171450" algn="l" defTabSz="914400" rtl="0" eaLnBrk="1" fontAlgn="auto" latinLnBrk="0" hangingPunct="1">
              <a:lnSpc>
                <a:spcPct val="100000"/>
              </a:lnSpc>
              <a:spcBef>
                <a:spcPts val="267"/>
              </a:spcBef>
              <a:spcAft>
                <a:spcPts val="0"/>
              </a:spcAft>
              <a:buClrTx/>
              <a:buSzPts val="800"/>
              <a:buFont typeface="Arial" panose="020B0604020202020204" pitchFamily="34" charset="0"/>
              <a:buChar char="•"/>
              <a:tabLst/>
              <a:defRPr/>
            </a:pPr>
            <a:r>
              <a:rPr kumimoji="0" lang="en-US" sz="110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GCP(SQL, BQ, Dataflow, Cloud Storage, </a:t>
            </a:r>
            <a:r>
              <a:rPr kumimoji="0" lang="en-US" sz="1100" i="0" u="none" strike="noStrike" kern="1200" cap="none" spc="0" normalizeH="0" baseline="0" noProof="0" dirty="0" err="1">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Datapro</a:t>
            </a:r>
            <a:r>
              <a:rPr lang="en-US" sz="1100" dirty="0">
                <a:solidFill>
                  <a:prstClr val="black"/>
                </a:solidFill>
                <a:latin typeface="Open Sans" panose="020B0606030504020204" pitchFamily="34" charset="0"/>
                <a:ea typeface="Open Sans" panose="020B0606030504020204" pitchFamily="34" charset="0"/>
                <a:cs typeface="Open Sans" panose="020B0606030504020204" pitchFamily="34" charset="0"/>
              </a:rPr>
              <a:t>c etc.)</a:t>
            </a:r>
          </a:p>
          <a:p>
            <a:pPr marL="171450" lvl="0" indent="-171450">
              <a:spcBef>
                <a:spcPts val="267"/>
              </a:spcBef>
              <a:buSzPts val="800"/>
              <a:buFont typeface="Arial" panose="020B0604020202020204" pitchFamily="34" charset="0"/>
              <a:buChar char="•"/>
              <a:defRPr/>
            </a:pPr>
            <a:r>
              <a:rPr lang="en-US" sz="1100" dirty="0">
                <a:latin typeface="Open Sans" panose="020B0606030504020204" pitchFamily="34" charset="0"/>
                <a:ea typeface="Open Sans" panose="020B0606030504020204" pitchFamily="34" charset="0"/>
                <a:cs typeface="Open Sans" panose="020B0606030504020204" pitchFamily="34" charset="0"/>
              </a:rPr>
              <a:t>Reporting : Looker, Looker Studio, Google PLX</a:t>
            </a:r>
          </a:p>
          <a:p>
            <a:pPr marL="171450" lvl="0" indent="-171450">
              <a:spcBef>
                <a:spcPts val="267"/>
              </a:spcBef>
              <a:buSzPts val="800"/>
              <a:buFont typeface="Arial" panose="020B0604020202020204" pitchFamily="34" charset="0"/>
              <a:buChar char="•"/>
              <a:defRPr/>
            </a:pPr>
            <a:r>
              <a:rPr lang="en-US" sz="1100" dirty="0">
                <a:latin typeface="Open Sans" panose="020B0606030504020204" pitchFamily="34" charset="0"/>
                <a:ea typeface="Open Sans" panose="020B0606030504020204" pitchFamily="34" charset="0"/>
                <a:cs typeface="Open Sans" panose="020B0606030504020204" pitchFamily="34" charset="0"/>
              </a:rPr>
              <a:t>Python </a:t>
            </a:r>
          </a:p>
          <a:p>
            <a:pPr marL="171450" lvl="0" indent="-171450">
              <a:spcBef>
                <a:spcPts val="267"/>
              </a:spcBef>
              <a:buSzPts val="800"/>
              <a:buFont typeface="Arial" panose="020B0604020202020204" pitchFamily="34" charset="0"/>
              <a:buChar char="•"/>
              <a:defRPr/>
            </a:pPr>
            <a:endParaRPr kumimoji="0" lang="en-US" sz="110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a:spcBef>
                <a:spcPts val="267"/>
              </a:spcBef>
              <a:buSzPts val="800"/>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R="0" lvl="0" algn="l" defTabSz="914400" rtl="0" eaLnBrk="1" fontAlgn="auto" latinLnBrk="0" hangingPunct="1">
              <a:lnSpc>
                <a:spcPct val="100000"/>
              </a:lnSpc>
              <a:spcBef>
                <a:spcPts val="267"/>
              </a:spcBef>
              <a:spcAft>
                <a:spcPts val="0"/>
              </a:spcAft>
              <a:buClrTx/>
              <a:buSzPts val="800"/>
              <a:tabLst/>
              <a:defRPr/>
            </a:pPr>
            <a:endParaRPr kumimoji="0" lang="en-US" sz="11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152396" marR="0" lvl="0" indent="-152396" algn="l" defTabSz="914400" rtl="0" eaLnBrk="1" fontAlgn="auto" latinLnBrk="0" hangingPunct="1">
              <a:lnSpc>
                <a:spcPct val="100000"/>
              </a:lnSpc>
              <a:spcBef>
                <a:spcPts val="267"/>
              </a:spcBef>
              <a:spcAft>
                <a:spcPts val="0"/>
              </a:spcAft>
              <a:buClr>
                <a:srgbClr val="575757"/>
              </a:buClr>
              <a:buSzPts val="800"/>
              <a:buFont typeface="Arial"/>
              <a:buChar char="•"/>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152396" marR="0" lvl="0" indent="-152396" algn="l" defTabSz="914400" rtl="0" eaLnBrk="1" fontAlgn="auto" latinLnBrk="0" hangingPunct="1">
              <a:lnSpc>
                <a:spcPct val="100000"/>
              </a:lnSpc>
              <a:spcBef>
                <a:spcPts val="267"/>
              </a:spcBef>
              <a:spcAft>
                <a:spcPts val="0"/>
              </a:spcAft>
              <a:buClr>
                <a:srgbClr val="575757"/>
              </a:buClr>
              <a:buSzPts val="800"/>
              <a:buFont typeface="Arial"/>
              <a:buChar char="•"/>
              <a:tabLst/>
              <a:defRPr/>
            </a:pPr>
            <a:endParaRPr kumimoji="0" lang="en-US" sz="11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a:p>
            <a:pPr marL="152396" marR="0" lvl="0" indent="-152396" algn="l" defTabSz="914400" rtl="0" eaLnBrk="1" fontAlgn="auto" latinLnBrk="0" hangingPunct="1">
              <a:lnSpc>
                <a:spcPct val="100000"/>
              </a:lnSpc>
              <a:spcBef>
                <a:spcPts val="267"/>
              </a:spcBef>
              <a:spcAft>
                <a:spcPts val="0"/>
              </a:spcAft>
              <a:buClr>
                <a:srgbClr val="575757"/>
              </a:buClr>
              <a:buSzPts val="800"/>
              <a:buFont typeface="Arial"/>
              <a:buChar char="•"/>
              <a:tabLst/>
              <a:defRPr/>
            </a:pPr>
            <a:endParaRPr kumimoji="0" lang="en-US" sz="1100" b="1"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p:txBody>
      </p:sp>
      <p:grpSp>
        <p:nvGrpSpPr>
          <p:cNvPr id="14" name="Google Shape;71;p14">
            <a:extLst>
              <a:ext uri="{FF2B5EF4-FFF2-40B4-BE49-F238E27FC236}">
                <a16:creationId xmlns:a16="http://schemas.microsoft.com/office/drawing/2014/main" id="{1A49FEFF-5CEF-D9EF-0197-167FBCACBD75}"/>
              </a:ext>
            </a:extLst>
          </p:cNvPr>
          <p:cNvGrpSpPr/>
          <p:nvPr/>
        </p:nvGrpSpPr>
        <p:grpSpPr>
          <a:xfrm>
            <a:off x="2600056" y="938271"/>
            <a:ext cx="8656017" cy="34285"/>
            <a:chOff x="2498725" y="1480490"/>
            <a:chExt cx="6202363" cy="45600"/>
          </a:xfrm>
        </p:grpSpPr>
        <p:cxnSp>
          <p:nvCxnSpPr>
            <p:cNvPr id="15" name="Google Shape;72;p14">
              <a:extLst>
                <a:ext uri="{FF2B5EF4-FFF2-40B4-BE49-F238E27FC236}">
                  <a16:creationId xmlns:a16="http://schemas.microsoft.com/office/drawing/2014/main" id="{29EDD1F5-3562-3B15-973B-0D14452E3443}"/>
                </a:ext>
              </a:extLst>
            </p:cNvPr>
            <p:cNvCxnSpPr/>
            <p:nvPr/>
          </p:nvCxnSpPr>
          <p:spPr>
            <a:xfrm>
              <a:off x="2757488" y="1502569"/>
              <a:ext cx="5943600" cy="1500"/>
            </a:xfrm>
            <a:prstGeom prst="straightConnector1">
              <a:avLst/>
            </a:prstGeom>
            <a:noFill/>
            <a:ln w="9525" cap="flat" cmpd="sng">
              <a:solidFill>
                <a:srgbClr val="646464"/>
              </a:solidFill>
              <a:prstDash val="solid"/>
              <a:round/>
              <a:headEnd type="none" w="sm" len="sm"/>
              <a:tailEnd type="none" w="sm" len="sm"/>
            </a:ln>
          </p:spPr>
        </p:cxnSp>
        <p:sp>
          <p:nvSpPr>
            <p:cNvPr id="16" name="Google Shape;73;p14">
              <a:extLst>
                <a:ext uri="{FF2B5EF4-FFF2-40B4-BE49-F238E27FC236}">
                  <a16:creationId xmlns:a16="http://schemas.microsoft.com/office/drawing/2014/main" id="{CD590924-DC4B-C67C-B1A5-8987073D2FA9}"/>
                </a:ext>
              </a:extLst>
            </p:cNvPr>
            <p:cNvSpPr/>
            <p:nvPr/>
          </p:nvSpPr>
          <p:spPr>
            <a:xfrm>
              <a:off x="2498725" y="1480490"/>
              <a:ext cx="1235100" cy="45600"/>
            </a:xfrm>
            <a:prstGeom prst="rect">
              <a:avLst/>
            </a:prstGeom>
            <a:solidFill>
              <a:srgbClr val="646464"/>
            </a:solidFill>
            <a:ln w="9525" cap="flat" cmpd="sng">
              <a:solidFill>
                <a:srgbClr val="646464"/>
              </a:solidFill>
              <a:prstDash val="solid"/>
              <a:miter lim="8000"/>
              <a:headEnd type="none" w="sm" len="sm"/>
              <a:tailEnd type="none" w="sm" len="sm"/>
            </a:ln>
          </p:spPr>
          <p:txBody>
            <a:bodyPr spcFirstLastPara="1" wrap="square" lIns="111767" tIns="55867" rIns="111767" bIns="55867" anchor="t" anchorCtr="0">
              <a:noAutofit/>
            </a:bodyPr>
            <a:lstStyle/>
            <a:p>
              <a:pPr>
                <a:buClr>
                  <a:srgbClr val="000000"/>
                </a:buClr>
                <a:buSzPts val="800"/>
              </a:pPr>
              <a:endParaRPr sz="1067" dirty="0">
                <a:solidFill>
                  <a:srgbClr val="646464"/>
                </a:solidFill>
                <a:latin typeface="Arial"/>
                <a:ea typeface="Arial"/>
                <a:cs typeface="Arial"/>
                <a:sym typeface="Arial"/>
              </a:endParaRPr>
            </a:p>
          </p:txBody>
        </p:sp>
      </p:grpSp>
      <p:sp>
        <p:nvSpPr>
          <p:cNvPr id="17" name="Google Shape;78;p14">
            <a:extLst>
              <a:ext uri="{FF2B5EF4-FFF2-40B4-BE49-F238E27FC236}">
                <a16:creationId xmlns:a16="http://schemas.microsoft.com/office/drawing/2014/main" id="{FF7E7EC5-C92C-F796-E897-5A69B715E857}"/>
              </a:ext>
            </a:extLst>
          </p:cNvPr>
          <p:cNvSpPr txBox="1"/>
          <p:nvPr/>
        </p:nvSpPr>
        <p:spPr>
          <a:xfrm>
            <a:off x="2600056" y="1049729"/>
            <a:ext cx="9105989" cy="5494586"/>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121900" tIns="121900" rIns="121900" bIns="121900" anchor="t" anchorCtr="0">
            <a:noAutofit/>
          </a:bodyPr>
          <a:lstStyle/>
          <a:p>
            <a:pPr algn="just">
              <a:buClr>
                <a:srgbClr val="575757"/>
              </a:buClr>
              <a:buSzPts val="200"/>
            </a:pPr>
            <a:r>
              <a:rPr lang="en-US" sz="1100" b="1" dirty="0">
                <a:latin typeface="Open Sans" panose="020B0606030504020204" pitchFamily="34" charset="0"/>
                <a:ea typeface="Open Sans" panose="020B0606030504020204" pitchFamily="34" charset="0"/>
                <a:cs typeface="Open Sans" panose="020B0606030504020204" pitchFamily="34" charset="0"/>
              </a:rPr>
              <a:t>Profile</a:t>
            </a:r>
            <a:endParaRPr lang="en-US" sz="11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r>
              <a:rPr lang="en-US" sz="1100" dirty="0">
                <a:latin typeface="Open Sans" panose="020B0606030504020204" pitchFamily="34" charset="0"/>
                <a:ea typeface="Open Sans" panose="020B0606030504020204" pitchFamily="34" charset="0"/>
                <a:cs typeface="Open Sans" panose="020B0606030504020204" pitchFamily="34" charset="0"/>
              </a:rPr>
              <a:t>Results-driven Senior Consultant Data Engineer with 9+ years of experience delivering large-scale data solutions, leading strategic data initiatives, and architecting scalable reporting platforms. Proven expertise in ETL development, data modeling, cloud data platforms (GCP), and business intelligence. Adept at stakeholder engagement, mentoring teams, and driving cost optimization through technical innovation. Recognized with multiple client awards for impact and excellence.</a:t>
            </a:r>
          </a:p>
          <a:p>
            <a:endParaRPr lang="en-US" sz="1100" b="1" dirty="0">
              <a:latin typeface="Open Sans" panose="020B0606030504020204" pitchFamily="34" charset="0"/>
              <a:ea typeface="Open Sans" panose="020B0606030504020204" pitchFamily="34" charset="0"/>
              <a:cs typeface="Open Sans" panose="020B0606030504020204" pitchFamily="34" charset="0"/>
            </a:endParaRPr>
          </a:p>
          <a:p>
            <a:pPr>
              <a:buClr>
                <a:srgbClr val="575757"/>
              </a:buClr>
              <a:buSzPts val="900"/>
            </a:pPr>
            <a:r>
              <a:rPr lang="en-US" sz="1100" b="1" dirty="0">
                <a:latin typeface="Open Sans" panose="020B0606030504020204" pitchFamily="34" charset="0"/>
                <a:ea typeface="Open Sans" panose="020B0606030504020204" pitchFamily="34" charset="0"/>
                <a:cs typeface="Open Sans" panose="020B0606030504020204" pitchFamily="34" charset="0"/>
              </a:rPr>
              <a:t>Illustrative Experience : </a:t>
            </a:r>
          </a:p>
          <a:p>
            <a:pPr>
              <a:buClr>
                <a:srgbClr val="575757"/>
              </a:buClr>
              <a:buSzPts val="900"/>
            </a:pPr>
            <a:r>
              <a:rPr lang="en-US" sz="1100" b="1" dirty="0">
                <a:latin typeface="Open Sans" panose="020B0606030504020204" pitchFamily="34" charset="0"/>
                <a:ea typeface="Open Sans" panose="020B0606030504020204" pitchFamily="34" charset="0"/>
                <a:cs typeface="Open Sans" panose="020B0606030504020204" pitchFamily="34" charset="0"/>
              </a:rPr>
              <a:t>HealthCare Client– Data Engineering </a:t>
            </a:r>
            <a:r>
              <a:rPr lang="en-IN" sz="1100" b="1" dirty="0">
                <a:latin typeface="Open Sans" panose="020B0606030504020204" pitchFamily="34" charset="0"/>
                <a:ea typeface="Open Sans" panose="020B0606030504020204" pitchFamily="34" charset="0"/>
                <a:cs typeface="Open Sans" panose="020B0606030504020204" pitchFamily="34" charset="0"/>
              </a:rPr>
              <a:t>Lead</a:t>
            </a:r>
            <a:r>
              <a:rPr lang="en-US" sz="1100" b="1" dirty="0">
                <a:latin typeface="Open Sans" panose="020B0606030504020204" pitchFamily="34" charset="0"/>
                <a:ea typeface="Open Sans" panose="020B0606030504020204" pitchFamily="34" charset="0"/>
                <a:cs typeface="Open Sans" panose="020B0606030504020204" pitchFamily="34" charset="0"/>
              </a:rPr>
              <a:t>:</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Spearheaded reporting and data engineering for the DSCSA compliance module, ensuring regulatory alignment and stakeholder visibility. Designed scalable data models in BigQuery to support serialized reporting, vendor scorecards, and lot-level tracking.</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Acted as the primary point of contact for reporting-related incidents; ensured timely resolution and minimal disruption. Collaborated cross-functionally to deliver accurate, timely, and audit-ready data solutions.</a:t>
            </a:r>
          </a:p>
          <a:p>
            <a:pPr fontAlgn="base"/>
            <a:r>
              <a:rPr lang="en-US" sz="1100" b="1" dirty="0">
                <a:latin typeface="Open Sans" panose="020B0606030504020204" pitchFamily="34" charset="0"/>
                <a:ea typeface="Open Sans" panose="020B0606030504020204" pitchFamily="34" charset="0"/>
                <a:cs typeface="Open Sans" panose="020B0606030504020204" pitchFamily="34" charset="0"/>
              </a:rPr>
              <a:t>HealthCare Client– Data Engineering </a:t>
            </a:r>
            <a:r>
              <a:rPr lang="en-IN" sz="1100" b="1" dirty="0">
                <a:latin typeface="Open Sans" panose="020B0606030504020204" pitchFamily="34" charset="0"/>
                <a:ea typeface="Open Sans" panose="020B0606030504020204" pitchFamily="34" charset="0"/>
                <a:cs typeface="Open Sans" panose="020B0606030504020204" pitchFamily="34" charset="0"/>
              </a:rPr>
              <a:t>Lead</a:t>
            </a:r>
            <a:r>
              <a:rPr lang="en-US" sz="1100" b="1" dirty="0">
                <a:latin typeface="Open Sans" panose="020B0606030504020204" pitchFamily="34" charset="0"/>
                <a:ea typeface="Open Sans" panose="020B0606030504020204" pitchFamily="34" charset="0"/>
                <a:cs typeface="Open Sans" panose="020B0606030504020204" pitchFamily="34" charset="0"/>
              </a:rPr>
              <a:t>:</a:t>
            </a:r>
            <a:endParaRPr lang="en-US" sz="1100" dirty="0">
              <a:latin typeface="Open Sans" panose="020B0606030504020204" pitchFamily="34" charset="0"/>
              <a:ea typeface="Open Sans" panose="020B0606030504020204" pitchFamily="34" charset="0"/>
              <a:cs typeface="Open Sans" panose="020B0606030504020204" pitchFamily="34" charset="0"/>
            </a:endParaRP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Architected the end-to-end solution stack spanning data engineering, data analysis, and visualization, enabling accurate and scalable supply chain reporting across multiple regions and product categories.</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Implemented advanced cache strategies that reduced duplicate queries by 40%, saving ~$2K annually; this optimization was recognized by the client and rolled out across other teams for org-wide efficiency gains.</a:t>
            </a:r>
          </a:p>
          <a:p>
            <a:pPr lvl="0">
              <a:lnSpc>
                <a:spcPct val="107000"/>
              </a:lnSpc>
              <a:buClr>
                <a:srgbClr val="575757"/>
              </a:buClr>
              <a:buSzPts val="900"/>
              <a:tabLst>
                <a:tab pos="44450" algn="l"/>
              </a:tabLst>
            </a:pPr>
            <a:r>
              <a:rPr lang="en-US" sz="1100" b="1" dirty="0">
                <a:latin typeface="Open Sans" panose="020B0606030504020204" pitchFamily="34" charset="0"/>
                <a:ea typeface="Open Sans" panose="020B0606030504020204" pitchFamily="34" charset="0"/>
                <a:cs typeface="Open Sans" panose="020B0606030504020204" pitchFamily="34" charset="0"/>
              </a:rPr>
              <a:t>Finance Client - Data Engineering  Lead :</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FDU (Financial Data Unification): Led a 6-member team through Phase 2 closure, delivering 50+ report changes post-</a:t>
            </a:r>
            <a:r>
              <a:rPr lang="en-US" sz="1100" dirty="0" err="1">
                <a:latin typeface="Open Sans" panose="020B0606030504020204" pitchFamily="34" charset="0"/>
                <a:ea typeface="Open Sans" panose="020B0606030504020204" pitchFamily="34" charset="0"/>
                <a:cs typeface="Open Sans" panose="020B0606030504020204" pitchFamily="34" charset="0"/>
              </a:rPr>
              <a:t>GoLive</a:t>
            </a:r>
            <a:r>
              <a:rPr lang="en-US" sz="1100" dirty="0">
                <a:latin typeface="Open Sans" panose="020B0606030504020204" pitchFamily="34" charset="0"/>
                <a:ea typeface="Open Sans" panose="020B0606030504020204" pitchFamily="34" charset="0"/>
                <a:cs typeface="Open Sans" panose="020B0606030504020204" pitchFamily="34" charset="0"/>
              </a:rPr>
              <a:t> and establishing a reconciliation framework for all delivered objects to ensure data accuracy and audit readiness.</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RAR (Revenue Recognition, Accounting &amp; Reporting): Directed a 5-member team to set up ETL and reporting pipelines from scratch, authored 8+ data models and multiple reports, and partnered with client/functional teams to resolve requirement ambiguities. As IC, delivered 1 critical data model and 2 reports.</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Concord: Assumed full project management responsibilities in the absence of a lead, successfully driving developments to completion without timeline slippage; delivered 2 critical data models and reports while stabilizing existing assets by resolving testing bugs.</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Oversaw task assignment, code reviews, and documentation, reviewing 100+ changes and instilling quality-first engineering practices</a:t>
            </a:r>
          </a:p>
          <a:p>
            <a:pPr marL="171450" indent="-171450" fontAlgn="base">
              <a:buFont typeface="Arial" panose="020B0604020202020204" pitchFamily="34" charset="0"/>
              <a:buChar char="•"/>
            </a:pPr>
            <a:r>
              <a:rPr lang="en-US" sz="1100" dirty="0">
                <a:latin typeface="Open Sans" panose="020B0606030504020204" pitchFamily="34" charset="0"/>
                <a:ea typeface="Open Sans" panose="020B0606030504020204" pitchFamily="34" charset="0"/>
                <a:cs typeface="Open Sans" panose="020B0606030504020204" pitchFamily="34" charset="0"/>
              </a:rPr>
              <a:t>Drove strategic dashboard initiatives delivering insights across core Google products including Android, Google Play, Chrome, Google TV, and Chromecast, enabling leadership to monitor product health, user behavior, and market trends.</a:t>
            </a:r>
          </a:p>
          <a:p>
            <a:pPr fontAlgn="base"/>
            <a:endParaRPr lang="en-US" sz="1100" b="1" dirty="0">
              <a:latin typeface="Open Sans" panose="020B0606030504020204" pitchFamily="34" charset="0"/>
              <a:ea typeface="Open Sans" panose="020B0606030504020204" pitchFamily="34" charset="0"/>
              <a:cs typeface="Open Sans" panose="020B0606030504020204" pitchFamily="34" charset="0"/>
            </a:endParaRPr>
          </a:p>
          <a:p>
            <a:pPr lvl="0">
              <a:buClr>
                <a:srgbClr val="575757"/>
              </a:buClr>
              <a:buSzPts val="900"/>
            </a:pPr>
            <a:r>
              <a:rPr lang="en-US" sz="1100" b="1" dirty="0">
                <a:latin typeface="Open Sans" panose="020B0606030504020204" pitchFamily="34" charset="0"/>
                <a:ea typeface="Open Sans" panose="020B0606030504020204" pitchFamily="34" charset="0"/>
                <a:cs typeface="Open Sans" panose="020B0606030504020204" pitchFamily="34" charset="0"/>
              </a:rPr>
              <a:t>Education </a:t>
            </a:r>
          </a:p>
          <a:p>
            <a:pPr marL="101597" indent="-110064">
              <a:lnSpc>
                <a:spcPct val="115000"/>
              </a:lnSpc>
              <a:spcBef>
                <a:spcPts val="533"/>
              </a:spcBef>
              <a:buClr>
                <a:schemeClr val="lt2"/>
              </a:buClr>
              <a:buSzPts val="900"/>
              <a:buChar char="•"/>
            </a:pPr>
            <a:r>
              <a:rPr lang="en-US" sz="1100" dirty="0">
                <a:latin typeface="Open Sans" panose="020B0606030504020204" pitchFamily="34" charset="0"/>
                <a:ea typeface="Open Sans" panose="020B0606030504020204" pitchFamily="34" charset="0"/>
                <a:cs typeface="Open Sans" panose="020B0606030504020204" pitchFamily="34" charset="0"/>
              </a:rPr>
              <a:t>B. Tech: Computer Science- India</a:t>
            </a:r>
          </a:p>
        </p:txBody>
      </p:sp>
      <p:grpSp>
        <p:nvGrpSpPr>
          <p:cNvPr id="23" name="Group 22">
            <a:extLst>
              <a:ext uri="{FF2B5EF4-FFF2-40B4-BE49-F238E27FC236}">
                <a16:creationId xmlns:a16="http://schemas.microsoft.com/office/drawing/2014/main" id="{E11337F2-5544-36C2-777A-C9ACC3B3A39A}"/>
              </a:ext>
            </a:extLst>
          </p:cNvPr>
          <p:cNvGrpSpPr/>
          <p:nvPr/>
        </p:nvGrpSpPr>
        <p:grpSpPr>
          <a:xfrm>
            <a:off x="3461908" y="191976"/>
            <a:ext cx="3443503" cy="669122"/>
            <a:chOff x="4323761" y="242862"/>
            <a:chExt cx="3443503" cy="669122"/>
          </a:xfrm>
        </p:grpSpPr>
        <p:sp>
          <p:nvSpPr>
            <p:cNvPr id="13" name="Google Shape;69;p14">
              <a:extLst>
                <a:ext uri="{FF2B5EF4-FFF2-40B4-BE49-F238E27FC236}">
                  <a16:creationId xmlns:a16="http://schemas.microsoft.com/office/drawing/2014/main" id="{797EE8BF-6304-5DF5-83FF-2FE674197CFF}"/>
                </a:ext>
              </a:extLst>
            </p:cNvPr>
            <p:cNvSpPr/>
            <p:nvPr/>
          </p:nvSpPr>
          <p:spPr>
            <a:xfrm>
              <a:off x="4689522" y="242862"/>
              <a:ext cx="3077742" cy="260475"/>
            </a:xfrm>
            <a:prstGeom prst="rect">
              <a:avLst/>
            </a:prstGeom>
            <a:noFill/>
            <a:ln>
              <a:noFill/>
            </a:ln>
          </p:spPr>
          <p:txBody>
            <a:bodyPr spcFirstLastPara="1" wrap="square" lIns="111767" tIns="55867" rIns="111767" bIns="55867" anchor="t" anchorCtr="0">
              <a:noAutofit/>
            </a:bodyPr>
            <a:lstStyle/>
            <a:p>
              <a:pPr>
                <a:spcBef>
                  <a:spcPts val="600"/>
                </a:spcBef>
                <a:buClr>
                  <a:srgbClr val="575757"/>
                </a:buClr>
                <a:buSzPts val="300"/>
              </a:pPr>
              <a:r>
                <a:rPr lang="en" sz="1467" b="1" dirty="0">
                  <a:solidFill>
                    <a:srgbClr val="575757"/>
                  </a:solidFill>
                  <a:latin typeface="Open Sans" panose="020B0606030504020204" pitchFamily="34" charset="0"/>
                  <a:ea typeface="Open Sans" panose="020B0606030504020204" pitchFamily="34" charset="0"/>
                  <a:cs typeface="Open Sans" panose="020B0606030504020204" pitchFamily="34" charset="0"/>
                </a:rPr>
                <a:t>(91) 9036-102-699</a:t>
              </a:r>
              <a:br>
                <a:rPr lang="en" sz="1467" b="1" dirty="0">
                  <a:solidFill>
                    <a:srgbClr val="575757"/>
                  </a:solidFill>
                  <a:latin typeface="Open Sans" panose="020B0606030504020204" pitchFamily="34" charset="0"/>
                  <a:ea typeface="Open Sans" panose="020B0606030504020204" pitchFamily="34" charset="0"/>
                  <a:cs typeface="Open Sans" panose="020B0606030504020204" pitchFamily="34" charset="0"/>
                </a:rPr>
              </a:br>
              <a:r>
                <a:rPr lang="en" sz="1467" b="1" u="sng" dirty="0">
                  <a:solidFill>
                    <a:srgbClr val="9DD4CF"/>
                  </a:solidFill>
                  <a:latin typeface="Open Sans" panose="020B0606030504020204" pitchFamily="34" charset="0"/>
                  <a:ea typeface="Open Sans" panose="020B0606030504020204" pitchFamily="34" charset="0"/>
                  <a:cs typeface="Open Sans" panose="020B0606030504020204" pitchFamily="34" charset="0"/>
                </a:rPr>
                <a:t>rinkysharma7</a:t>
              </a:r>
              <a:r>
                <a:rPr lang="en" sz="1467" u="sng" dirty="0">
                  <a:solidFill>
                    <a:srgbClr val="9DD4CF"/>
                  </a:solidFill>
                  <a:latin typeface="Open Sans" panose="020B0606030504020204" pitchFamily="34" charset="0"/>
                  <a:ea typeface="Open Sans" panose="020B0606030504020204" pitchFamily="34" charset="0"/>
                  <a:cs typeface="Open Sans" panose="020B0606030504020204" pitchFamily="34" charset="0"/>
                </a:rPr>
                <a:t>@deloitte.com</a:t>
              </a:r>
              <a:endParaRPr lang="en-US" sz="1467" u="sng" dirty="0">
                <a:solidFill>
                  <a:srgbClr val="9DD4CF"/>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9" name="Graphic 18" descr="Envelope with solid fill">
              <a:extLst>
                <a:ext uri="{FF2B5EF4-FFF2-40B4-BE49-F238E27FC236}">
                  <a16:creationId xmlns:a16="http://schemas.microsoft.com/office/drawing/2014/main" id="{09878F67-586B-B56C-852C-A047F446ED7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323761" y="546224"/>
              <a:ext cx="365760" cy="365760"/>
            </a:xfrm>
            <a:prstGeom prst="rect">
              <a:avLst/>
            </a:prstGeom>
          </p:spPr>
        </p:pic>
        <p:pic>
          <p:nvPicPr>
            <p:cNvPr id="21" name="Graphic 20" descr="Speaker phone with solid fill">
              <a:extLst>
                <a:ext uri="{FF2B5EF4-FFF2-40B4-BE49-F238E27FC236}">
                  <a16:creationId xmlns:a16="http://schemas.microsoft.com/office/drawing/2014/main" id="{F43FC016-1569-31A0-C1ED-237E58BE3F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23761" y="267692"/>
              <a:ext cx="365760" cy="365760"/>
            </a:xfrm>
            <a:prstGeom prst="rect">
              <a:avLst/>
            </a:prstGeom>
          </p:spPr>
        </p:pic>
      </p:grpSp>
      <p:pic>
        <p:nvPicPr>
          <p:cNvPr id="2" name="Picture 1">
            <a:extLst>
              <a:ext uri="{FF2B5EF4-FFF2-40B4-BE49-F238E27FC236}">
                <a16:creationId xmlns:a16="http://schemas.microsoft.com/office/drawing/2014/main" id="{C9A8A99B-3103-98D5-4FCB-BF7600AC4C6C}"/>
              </a:ext>
            </a:extLst>
          </p:cNvPr>
          <p:cNvPicPr>
            <a:picLocks noChangeAspect="1"/>
          </p:cNvPicPr>
          <p:nvPr/>
        </p:nvPicPr>
        <p:blipFill>
          <a:blip r:embed="rId6">
            <a:extLst>
              <a:ext uri="{28A0092B-C50C-407E-A947-70E740481C1C}">
                <a14:useLocalDpi xmlns:a14="http://schemas.microsoft.com/office/drawing/2010/main" val="0"/>
              </a:ext>
            </a:extLst>
          </a:blip>
          <a:srcRect l="2239" t="2780" r="2239" b="2780"/>
          <a:stretch>
            <a:fillRect/>
          </a:stretch>
        </p:blipFill>
        <p:spPr>
          <a:xfrm>
            <a:off x="258986" y="715528"/>
            <a:ext cx="1833974" cy="2052644"/>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677600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0180EF2748BDC459105294C814A12A4" ma:contentTypeVersion="3" ma:contentTypeDescription="Create a new document." ma:contentTypeScope="" ma:versionID="8a39c3ece0058535596f3cd7d69771ff">
  <xsd:schema xmlns:xsd="http://www.w3.org/2001/XMLSchema" xmlns:xs="http://www.w3.org/2001/XMLSchema" xmlns:p="http://schemas.microsoft.com/office/2006/metadata/properties" xmlns:ns2="72072a43-2f22-4017-b8e5-8161ef5e3ad7" targetNamespace="http://schemas.microsoft.com/office/2006/metadata/properties" ma:root="true" ma:fieldsID="c7e4e6f0d2fa2341bdb1e65b31a22406" ns2:_="">
    <xsd:import namespace="72072a43-2f22-4017-b8e5-8161ef5e3ad7"/>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2072a43-2f22-4017-b8e5-8161ef5e3a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B99C14-9381-47E7-839A-94526CEFA852}">
  <ds:schemaRefs>
    <ds:schemaRef ds:uri="http://schemas.microsoft.com/sharepoint/v3/contenttype/forms"/>
  </ds:schemaRefs>
</ds:datastoreItem>
</file>

<file path=customXml/itemProps2.xml><?xml version="1.0" encoding="utf-8"?>
<ds:datastoreItem xmlns:ds="http://schemas.openxmlformats.org/officeDocument/2006/customXml" ds:itemID="{D03BC9D3-B112-4867-9BDE-59F0C06028A8}">
  <ds:schemaRefs>
    <ds:schemaRef ds:uri="72072a43-2f22-4017-b8e5-8161ef5e3ad7"/>
    <ds:schemaRef ds:uri="http://schemas.microsoft.com/office/2006/metadata/properties"/>
    <ds:schemaRef ds:uri="http://purl.org/dc/dcmitype/"/>
    <ds:schemaRef ds:uri="http://purl.org/dc/terms/"/>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521690DD-1532-4B0E-AA54-10D4B086EAB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2072a43-2f22-4017-b8e5-8161ef5e3a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2489</TotalTime>
  <Words>482</Words>
  <Application>Microsoft Office PowerPoint</Application>
  <PresentationFormat>Widescreen</PresentationFormat>
  <Paragraphs>40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Nexa Black</vt:lpstr>
      <vt:lpstr>Open Sans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Srilatha, Lingineni</dc:creator>
  <cp:lastModifiedBy>Gupta, Somya</cp:lastModifiedBy>
  <cp:revision>109</cp:revision>
  <dcterms:created xsi:type="dcterms:W3CDTF">2021-06-21T15:06:24Z</dcterms:created>
  <dcterms:modified xsi:type="dcterms:W3CDTF">2026-01-19T12:30:30Z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2021-06-21T15:06:24Z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fab2c854-e3a4-4f57-959a-4729da253bf5</vt:lpwstr>
  </property>
  <property fmtid="{D5CDD505-2E9C-101B-9397-08002B2CF9AE}" pid="8" name="MSIP_Label_ea60d57e-af5b-4752-ac57-3e4f28ca11dc_ContentBits">
    <vt:lpwstr>0</vt:lpwstr>
  </property>
  <property fmtid="{D5CDD505-2E9C-101B-9397-08002B2CF9AE}" pid="9" name="ContentTypeId">
    <vt:lpwstr>0x01010060180EF2748BDC459105294C814A12A4</vt:lpwstr>
  </property>
</Properties>
</file>